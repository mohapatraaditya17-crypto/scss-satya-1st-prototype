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28632" y="0"/>
            <a:ext cx="2560320" cy="6858000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5A059"/>
                </a:solidFill>
              </a:rPr>
              <a:t>SCSS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EBCE8E"/>
                </a:solidFill>
              </a:rPr>
              <a:t>Sure Clue Scientific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2286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C5A059"/>
                </a:solidFill>
              </a:rPr>
              <a:t>SEVA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502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EBCE8E"/>
                </a:solidFill>
              </a:rPr>
              <a:t>Innovation Challenge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713232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EBCE8E"/>
                </a:solidFill>
              </a:rPr>
              <a:t>Sector 9 • Sub-theme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SCSS SATYA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8686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C5A059"/>
                </a:solidFill>
              </a:rPr>
              <a:t>Digital Media Authenticity Forensics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Multi-Layer AI Detection  |  Cryptographic Provenance  |  ISO/IEC 27037 Compliant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7772400" cy="64008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6908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EBCE8E"/>
                </a:solidFill>
              </a:rPr>
              <a:t>"The tool screens. The expert decides."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Maharashtra &amp; Chhattisgarh Government  |  Forensic, AI &amp; Cyber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1512" y="62179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EBCE8E"/>
                </a:solidFill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822960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The Digital Trust Crisis in India's Governance Ecosystem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2651760" cy="1463040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2468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EF4444"/>
                </a:solidFill>
              </a:rPr>
              <a:t>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of legal exhibits in select courts
cannot be verified for AI origin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097280"/>
            <a:ext cx="2651760" cy="1463040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143000"/>
            <a:ext cx="2468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₹2,300 Cr+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719072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estimated annual loss from
fake document fraud in India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097280"/>
            <a:ext cx="2651760" cy="1463040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143000"/>
            <a:ext cx="2468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C5A059"/>
                </a:solidFill>
              </a:rPr>
              <a:t>12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1719072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to generate a photorealistic deepfake
indistinguishable to the naked eye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9136" y="1097280"/>
            <a:ext cx="2651760" cy="1463040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143000"/>
            <a:ext cx="2468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719072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unified forensic screening APIs in
Government sector workflows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97480"/>
            <a:ext cx="73152" cy="658368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697480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BCE8E"/>
                </a:solidFill>
              </a:rPr>
              <a:t>AI-generated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990088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DALL-E 3, Midjourney v6, Stable Diffusion produce images indistinguishable from authentic photographs — with zero embedded watermarks or provenance.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02736"/>
            <a:ext cx="73152" cy="658368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02736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BCE8E"/>
                </a:solidFill>
              </a:rPr>
              <a:t>Deepfake proliferation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895344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Face-swap and voice-clone technologies are weaponised in electoral disinformation, insurance fraud, KYC bypass, and court evidence fabrication.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07992"/>
            <a:ext cx="73152" cy="658368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507992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BCE8E"/>
                </a:solidFill>
              </a:rPr>
              <a:t>Document tampering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80060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Financial certificates, government orders, and medical reports are altered with commercially available tools in under 3 minutes.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413248"/>
            <a:ext cx="73152" cy="658368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413248"/>
            <a:ext cx="3200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BCE8E"/>
                </a:solidFill>
              </a:rPr>
              <a:t>Institutional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705856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Law enforcement, judiciary, and e-governance wings have no standardised, explainable, court-admissible automated screening mechanism.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SCSS SATYA — 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822960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4-Layer Multi-Dimensional Forensics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743200" cy="534924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2743200" cy="82296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15568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5A059"/>
                </a:solidFill>
              </a:rPr>
              <a:t>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89888"/>
            <a:ext cx="25603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Cryptographic
&amp; Provenance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59"/>
            <a:ext cx="73152" cy="7315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084831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SHA-256 + BLAKE3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07791"/>
            <a:ext cx="73152" cy="7315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798063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C2PA Manifest (ISO 19566-5)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21024"/>
            <a:ext cx="73152" cy="7315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511296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Perceptual Hashing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34255"/>
            <a:ext cx="73152" cy="7315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224527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Vault Bitstream Seal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1051560"/>
            <a:ext cx="2743200" cy="534924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82696" y="1051560"/>
            <a:ext cx="274320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1115568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LAYER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1389888"/>
            <a:ext cx="25603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Classical Image
Forensics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19856" y="2194559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75304" y="2084831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Error Level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9856" y="2907791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4" y="2798063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JPEG DQT Quantization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19856" y="3621024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5304" y="3511296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Noise Residual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9856" y="4334255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5304" y="4224527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FFT Frequency Lattice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1051560"/>
            <a:ext cx="2743200" cy="534924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5352" y="1051560"/>
            <a:ext cx="2743200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1115568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LAYER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1389888"/>
            <a:ext cx="25603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AI &amp; Deepfake
Detection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2194559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084831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Spectral Decay Slope (α)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2512" y="2907791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798063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GAN / Diffusion Traces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3621024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511296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AI Synthetic Heatmap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2512" y="4334255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224527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Cross-Channel Correlation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08008" y="1051560"/>
            <a:ext cx="2743200" cy="534924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08008" y="1051560"/>
            <a:ext cx="2743200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9448" y="1115568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LAYER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1389888"/>
            <a:ext cx="25603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Document &amp;
Structural Forensics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45168" y="2194559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0616" y="2084831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PDF Revision Tracking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45168" y="2907791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0616" y="2798063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Typography Alignment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45168" y="3621024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0616" y="3511296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Copy-Move Detection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45168" y="4334255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0616" y="4224527"/>
            <a:ext cx="2331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Office XML Metadata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6291072"/>
            <a:ext cx="11548872" cy="41148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6309360"/>
            <a:ext cx="112745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EBCE8E"/>
                </a:solidFill>
              </a:rPr>
              <a:t>⟶  Evidence Fusion Engine answers 4 forensic questions: Origin | Integrity | Generation | Transformation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SCSS SATYA — 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822960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Production-Grade 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5A059"/>
                </a:solidFill>
              </a:rPr>
              <a:t>⚙  BACKEND &amp; AI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6304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FastAPI + Python 3.12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682496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Async REST API, OpenAPI 3.1, ISO/IEC 27037 chain of custody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84832"/>
            <a:ext cx="54864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084832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SQLAlchemy +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304288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Immutable evidence vault with audit activity 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06624"/>
            <a:ext cx="54864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706624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OpenCV + NumPy + SciPy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926080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ELA, noise residuals, FFT, ORB feature matching, copy-move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28416"/>
            <a:ext cx="54864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328416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ONNX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547872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Production-ready neural inference; DIRE / CNNDetection adapter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50208"/>
            <a:ext cx="54864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950208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BLAKE3 + SHA-256 + SHA-512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169664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Dual cryptographic sealing + perceptual fingerprinting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54864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57200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imagehash (pHash/dHash/wHash)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791456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Visual similarity matching across recompressed variants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93792"/>
            <a:ext cx="54864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5193792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pypdf + python-docx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5413248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PDF revision tracking, Office XML metadata &amp; revision forensics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15584"/>
            <a:ext cx="54864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5815584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ReportLab (ISO PDF/A)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035040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Court-quality PDF forensic report generation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005840"/>
            <a:ext cx="36576" cy="5486400"/>
          </a:xfrm>
          <a:prstGeom prst="rect">
            <a:avLst/>
          </a:prstGeom>
          <a:solidFill>
            <a:srgbClr val="2D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7356" y="10515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5A059"/>
                </a:solidFill>
              </a:rPr>
              <a:t>🖥  FRONTEND &amp; DELIVERY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7356" y="14630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1948" y="1463040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React 19 + TypeScript + Vite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1948" y="1700784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Responsive examiner dashboard with live forensic results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157984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1948" y="2157984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Component Evidence Cards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1948" y="2395728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Per-test indicator badges (Detected / Clean / Inconclusive)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7356" y="2852928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1948" y="2852928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Evidence Heatmaps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1948" y="3090672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Noise residual, ELA, copy-move, AI synthetic, typography maps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77356" y="3547872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1948" y="3547872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4-Pillar Display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1948" y="3785616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Origin | Integrity | Generation | Transformation panels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7356" y="4242816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1948" y="4242816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Calibrated Confidence Dials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1948" y="4480560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Multi-dimensional probability scores with explainability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7356" y="50292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5A059"/>
                </a:solidFill>
              </a:rPr>
              <a:t>🏛  STANDARDS &amp; COMPLIANCE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1948" y="53949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✓  ISO/IEC 27037 — Digital Evidence Handling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1948" y="568756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✓  NIST OpenMFC — Media Forensics Challenge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1948" y="598017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✓  C2PA Specification 2.x — Content Provenance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1948" y="627278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✓  ISO/IEC 19566-5 — JUMBF Manifest Format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SCSS SATYA — 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822960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FORENSIC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12 Automated Screening Tests — Each Explainable, Each Court-Documented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335024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155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Metadata &amp; Structural Chunk Forensics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26464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EXIF, PNG IHDR/pHYs/tEXt, screen-density, trailing bytes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078992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078992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3" y="1335024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19" y="11155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Dual Cryptographic &amp; Perceptual Hashing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19" y="1426464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SHA-256, BLAKE3, SHA-512 | pHash, dHash, aHash, wHash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11680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011680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2267712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048256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C2PA &amp; Content Credentials 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359152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JUMBF Manifest, APP11 markers, AI-declared generative origin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011680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011680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3" y="2267712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19" y="2048256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Document &amp; Container Structural Forensics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19" y="2359152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PDF revisions, JavaScript detection, Office XML metadata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944368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944368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3200400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980944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JPEG Quantization &amp; Double-Compression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291840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DQT extraction, IJG quality estimation, recompression ghosting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2944368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2944368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3" y="3200400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19" y="2980944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Error Level Analysis (ELA)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19" y="3291840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DCT compression grid resave differential analysis (JPEG)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877056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3877056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4133088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913632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Image Consistency &amp; Channel 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224528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RGB divergence, quadrant variance, global luminance map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59" y="3877056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59" y="3877056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18503" y="4133088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19" y="3913632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Multi-Scale Noise Residual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19" y="4224528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High-pass median filter residual, SNR, kurtosis, inhomogeneity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809744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4809744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" y="5065776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4846320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2D Fourier Spectral Analysis (FFT)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157216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Periodic lattice peaks, spectral decay slope, GAN frequency grid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59" y="4809744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09359" y="4809744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18503" y="5065776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19" y="4846320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Copy-Move / Clone Forgery Detection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19" y="5157216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ORB descriptor matching, spatial clustering, translation map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742431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" y="5742431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" y="5998463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779007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Generative Classifier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6089903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Synthetic Likelihood Index (%), spectral decay α, patch heatmap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59" y="5742431"/>
            <a:ext cx="5669280" cy="8503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09359" y="5742431"/>
            <a:ext cx="502920" cy="85039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18503" y="5998463"/>
            <a:ext cx="4754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1E36"/>
                </a:solidFill>
              </a:rPr>
              <a:t>T-12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03719" y="5779007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Document Typography &amp; Character Alignment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19" y="6089903"/>
            <a:ext cx="49377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Baseline deviation, kerning variance, glyph edge sharpness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SCSS SATYA — 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822960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COMPLIANCE &amp;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Institutional Identity, Compliance Standards &amp;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5A059"/>
                </a:solidFill>
              </a:rPr>
              <a:t>STANDARDS WE CONFORM 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64008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ISO/IEC 27037:2012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19072"/>
            <a:ext cx="5486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Digital Evidence Identification, Collection, Acquisition &amp; Preservation — Chain of custody embedded in every examination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76856"/>
            <a:ext cx="64008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31136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NIST OpenMFC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5486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NIST Open Media Forensics Challenge taxonomy: Manipulation Detection, Localisation, Deepfake Detection, Steganography — treated as independent forensic problems.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44952"/>
            <a:ext cx="64008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99232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C2PA Specification 2.x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55264"/>
            <a:ext cx="5486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Coalition for Content Provenance and Authenticity — JUMBF manifest parsing, claim generator extraction, signing trust chain evaluation.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13048"/>
            <a:ext cx="64008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67328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ISO/IEC 19566-5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5486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JPEG Universal Metadata Box Format (JUMBF) for digital asset provenance containers.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81144"/>
            <a:ext cx="64008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35424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ISO/IEC 10918-1 (JPEG)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91456"/>
            <a:ext cx="5486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Discrete Cosine Transform baseline quantization table analysis and double-compression detection.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49240"/>
            <a:ext cx="64008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ISO/IEC 29500 (OOXML)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59552"/>
            <a:ext cx="5486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Office Open XML container integrity, metadata revision and document structural anomaly forensics.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005840"/>
            <a:ext cx="36576" cy="5486400"/>
          </a:xfrm>
          <a:prstGeom prst="rect">
            <a:avLst/>
          </a:prstGeom>
          <a:solidFill>
            <a:srgbClr val="2D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7356" y="10515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5A059"/>
                </a:solidFill>
              </a:rPr>
              <a:t>INSTITUTIONAL USE CASES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7356" y="1499616"/>
            <a:ext cx="64008" cy="548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1948" y="14630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🏛  Judiciary &amp; Courts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1948" y="17373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Rapid preliminary screening of digital exhibits — photographs, screenshots, audio spectrograms, and PDF documents.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7356" y="2295144"/>
            <a:ext cx="64008" cy="548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1948" y="225856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🚓  Law Enforcement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1948" y="2532888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First-response field screening of forwarded WhatsApp messages, social media posts, and CCTV screenshots.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7356" y="3090672"/>
            <a:ext cx="64008" cy="548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1948" y="305409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🏦  Banking &amp; Insurance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1948" y="3328416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KYC document authenticity: Aadhaar, PAN, Property Papers, Medical certificates — before loan or claim approval.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3886200"/>
            <a:ext cx="64008" cy="548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1948" y="384962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🏫  Examination Boards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1948" y="4123944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Certificate and result tampering detection for state-level merit lists, admit cards, and marksheets.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7356" y="4681728"/>
            <a:ext cx="64008" cy="548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1948" y="464515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🗳️  Electoral Commission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1948" y="4919472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Electoral deepfake and fabricated candidate imagery screening before publication clearance.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77356" y="5477255"/>
            <a:ext cx="64008" cy="548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1948" y="544067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📡  Defence &amp; Intelligence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1948" y="5714999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Intelligence media evidence authentication and adversarial synthetic media identification.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SCSS SATYA — 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88952" cy="822960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ROADMAP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Deployment Roadmap &amp; SEVA FIRST Pilot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2743200" cy="274320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2743200" cy="7315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52144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C5A059"/>
                </a:solidFill>
              </a:rPr>
              <a:t>Q4 2026
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19072"/>
            <a:ext cx="2523744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✓ 12-module pipeline
✓ React dashboard
✓ ISO/IEC 27037 PDF reports
✓ C2PA provenance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097280"/>
            <a:ext cx="2743200" cy="274320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097280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152144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Q1 2027
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1719072"/>
            <a:ext cx="2523744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→ Maharashtra Police Digital Cell
→ NASCA Chhattisgarh tie-up
→ 500 test cases, blind evaluation
→ ONNX DIRE model integration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097280"/>
            <a:ext cx="2743200" cy="274320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09728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152144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Q2 2027
SWAS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719072"/>
            <a:ext cx="2523744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→ REST API for court e-filing systems
→ Aadhaar / DigiLocker integration
→ SLA: 95% accuracy target
→ Load-tested: 500 RPM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3144" y="1097280"/>
            <a:ext cx="2743200" cy="274320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1097280"/>
            <a:ext cx="2743200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1152144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60A5FA"/>
                </a:solidFill>
              </a:rPr>
              <a:t>Q3-Q4 2027
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1719072"/>
            <a:ext cx="2523744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→ National rollout: 28 states
→ NIC cloud deployment
→ Hardware SynthID chip pipeline
→ CERT-In approved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5A059"/>
                </a:solidFill>
              </a:rPr>
              <a:t>WHY SCSS SATYA WINS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443984"/>
            <a:ext cx="5669280" cy="676656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80560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◆  No Black 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18304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Every test result carries a structured observations list, an explanation, and known limitations — auditable in court.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443984"/>
            <a:ext cx="5669280" cy="676656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19" y="4480560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◆  Format-Agnostic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19" y="4718304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JPEG, PNG, WebP, PDF, DOCX — single platform handles all evidence types from police FIRs to insurance claims.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193792"/>
            <a:ext cx="5669280" cy="676656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3036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◆  Open Standards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68112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NIST, ISO, C2PA — not proprietary APIs. Independent re-verification by any accredited lab is architecturally guaranteed.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5193792"/>
            <a:ext cx="5669280" cy="676656"/>
          </a:xfrm>
          <a:prstGeom prst="rect">
            <a:avLst/>
          </a:prstGeom>
          <a:solidFill>
            <a:srgbClr val="17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19" y="523036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◆  Government-Ready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19" y="5468112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SQLite evidence vault, chain-of-custody audit log, human review workflow, and PDF/A report — built for e-court integration.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6126480"/>
            <a:ext cx="9464040" cy="54864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6163056"/>
            <a:ext cx="9281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EBCE8E"/>
                </a:solidFill>
              </a:rPr>
              <a:t>Contact SCSS: animesh0112@gmail.com  |  github.com/animesh0112/SCSS-SATYA  |  SEVA FIRST Sector 9, Sub-theme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SCSS SATYA — 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